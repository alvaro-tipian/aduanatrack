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91440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9875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UNIVERSIDAD DE SAN MARTÍN DE PORRES · FACULTAD DE INGENIERÍA Y ARQUITECTURA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SPRINT PLANNING — SPRINT 1</a:t>
            </a:r>
          </a:p>
          <a:p>
            <a:pPr>
              <a:spcAft>
                <a:spcPts val="2200"/>
              </a:spcAft>
              <a:defRPr sz="1700">
                <a:solidFill>
                  <a:srgbClr val="E0F2FE"/>
                </a:solidFill>
                <a:latin typeface="Segoe UI"/>
              </a:defRPr>
            </a:pPr>
            <a:r>
              <a:t>Sistema de Seguimiento Aduanero de Importaciones Marítimas (ADUANATRACK)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Curso: Diseño e Implementación de Sistemas · Docente Asignado: Mg. Juan Manuel Huapalla García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Código de Proyecto: PROY-ADU-2026-01 · Grupo 2 · Hito Académico: Semana 7 (Ciclo 2026-I)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Alcance Planificado: 5 Historias de Usuario (23 SP) · 31 Tareas Técnicas SMART (109 Horas)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Duración del Sprint: 3 Semanas (Semanas 7 a 9 · 15 Días Hábiles) · 3 Desarrolladores Activos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PLAN DE TRABAJO ÁGIL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Agenda de la Ceremonia de Sprint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554480"/>
            <a:ext cx="475488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8132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Organización del Scrum Team y Marco Teórico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Roles, modelo INVEST, regla de las 3C, criterios BDD (Gherkin) y mapa de épicas.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514600"/>
            <a:ext cx="475488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4144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Objetivo del Sprint (Sprint Goal — Tema 1)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Declaración del objetivo estratégico, valor de negocio por actor y alineamiento SUNAT.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3474720"/>
            <a:ext cx="475488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015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Capacidad del Scrum Team y Planning Poker (Tema 2)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Cálculo matemático de horas netas, velocidad de entrega y consenso Fibonacci (23 SP).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4434840"/>
            <a:ext cx="475488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6168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Sprint Backlog y Grafo de Dependencias (Tema 3)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5 Historias comprometidas, ruta crítica de desarrollo y 31 tareas técnicas SMART (109h).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728655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5394960"/>
            <a:ext cx="475488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32180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Gobernanza, Herramientas CASE y Calendario S7-S9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Tablero Jira (7 estados), GitHub GitFlow, SonarQube SAST, DoR/DoD y cronograma.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ORGANIZACIÓN DEL 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Scrum Team — Grupo 2: Roles y Responsabilidades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29968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029968" cy="9601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SM</a:t>
            </a:r>
          </a:p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Scrum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Tipian Jacobo,</a:t>
            </a:r>
            <a:br/>
            <a:r>
              <a:t>Alvaro Gustavo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5204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Responsabilidad en Sprint 1:</a:t>
            </a:r>
            <a:br/>
            <a:r>
              <a:t>Facilitación del proceso ágil, eliminación de impedimentos, métricas de velocidad y sincronización diaria.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371600"/>
            <a:ext cx="2029968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98648" y="1371600"/>
            <a:ext cx="2029968" cy="9601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PO</a:t>
            </a:r>
          </a:p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Product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4688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Altamirano Zuñiga,</a:t>
            </a:r>
            <a:br/>
            <a:r>
              <a:t>Juan Diego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35204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Responsabilidad en Sprint 1:</a:t>
            </a:r>
            <a:br/>
            <a:r>
              <a:t>Priorización del Product Backlog, interlocución con usuarios aduaneros y validación de criterios de aceptación.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1371600"/>
            <a:ext cx="2029968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1371600"/>
            <a:ext cx="2029968" cy="9601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DEV</a:t>
            </a:r>
          </a:p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Developer (Frontend)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4688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Linares Estivariz,</a:t>
            </a:r>
            <a:br/>
            <a:r>
              <a:t>Kiara Leticia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35204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Responsabilidad en Sprint 1:</a:t>
            </a:r>
            <a:br/>
            <a:r>
              <a:t>Construcción de interfaces SPA, formularios reactivos, vistas de dashboard y validación de experiencia UI/UX.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2904" y="1371600"/>
            <a:ext cx="2029968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32904" y="1371600"/>
            <a:ext cx="2029968" cy="9601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DEV</a:t>
            </a:r>
          </a:p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Developer (Backend)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24688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Ponce Simeón,</a:t>
            </a:r>
            <a:br/>
            <a:r>
              <a:t>Patrick Vossler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35204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Responsabilidad en Sprint 1:</a:t>
            </a:r>
            <a:br/>
            <a:r>
              <a:t>Diseño de APIs RESTful, lógica transaccional aduanera, seguridad JWT, esquemas PostgreSQL y rendimiento.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1371600"/>
            <a:ext cx="2029968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00032" y="1371600"/>
            <a:ext cx="2029968" cy="9601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DEV</a:t>
            </a:r>
          </a:p>
          <a:p>
            <a:pPr algn="ctr">
              <a:defRPr sz="950">
                <a:solidFill>
                  <a:srgbClr val="FFFFFF"/>
                </a:solidFill>
                <a:latin typeface="Segoe UI"/>
              </a:defRPr>
            </a:pPr>
            <a:r>
              <a:t>Developer (DevOps/QA)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688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Saavedra García,</a:t>
            </a:r>
            <a:br/>
            <a:r>
              <a:t>Fabio Enrique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520440"/>
            <a:ext cx="1810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Responsabilidad en Sprint 1:</a:t>
            </a:r>
            <a:br/>
            <a:r>
              <a:t>Entornos contenerizados Docker, pipelines CI en GitHub Actions, análisis SAST (SonarQube) y pruebas BDD.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FUNDAMENTOS DE INGENIERÍA ÁGIL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Marco Metodológico de Requerimientos: INVEST, 3C y BDD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29000" cy="6400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Regla de las 3C (Ron Jeffries)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30998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  <a:latin typeface="Segoe UI"/>
              </a:defRPr>
            </a:pPr>
            <a:r>
              <a:t>Card (Tarjeta):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Expresión sintética del requerimiento en formato estándar: 'Como [rol], Quiero [acción], Para [beneficio comercial]'.</a:t>
            </a:r>
          </a:p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  <a:latin typeface="Segoe UI"/>
              </a:defRPr>
            </a:pPr>
            <a:r>
              <a:t>Conversation (Conversación):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Diálogo continuo y refinamiento entre Product Owner y Developers para acordar reglas operativas y dependencias.</a:t>
            </a:r>
          </a:p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  <a:latin typeface="Segoe UI"/>
              </a:defRPr>
            </a:pPr>
            <a:r>
              <a:t>Confirmation (Confirmación):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Criterios de Aceptación objetivos y verificables que garantizan que el requerimiento cumple las expectativas.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371600"/>
            <a:ext cx="3429000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Modelo INVEST (Bill Wake)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48840"/>
            <a:ext cx="30998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Independent (Independiente):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Historias desacopladas al máximo; HU-01 y HU-04 inician en paralelo sin bloqueos mutuos.</a:t>
            </a:r>
          </a:p>
          <a:p>
            <a:pPr>
              <a:spcAft>
                <a:spcPts val="2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Negotiable / Valuable: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El alcance técnico es negociado en Planning y genera valor directo al agente o importador.</a:t>
            </a:r>
          </a:p>
          <a:p>
            <a:pPr>
              <a:spcAft>
                <a:spcPts val="2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Estimable / Small / Testable: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Historias estimadas entre 3 y 5 SP en Sprint 1, con pruebas automatizables y verificables.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28432" y="1371600"/>
            <a:ext cx="3429000" cy="6400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Criterios BDD Gherkin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48840"/>
            <a:ext cx="30998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Dado (Given):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Establece el contexto o precondición del sistema (ej. dado un usuario autenticado con rol Agente).</a:t>
            </a:r>
          </a:p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Cuando (When):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Describe la acción ejecutada (ej. cuando completa los datos de aduana y régimen 10).</a:t>
            </a:r>
          </a:p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Entonces (Then):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Define el resultado observable (ej. entonces el sistema genera el correlativo DESP-2026-XXXX).</a:t>
            </a:r>
          </a:p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Cobertura Integral: </a:t>
            </a:r>
          </a:p>
          <a:p>
            <a:pPr>
              <a:spcAft>
                <a:spcPts val="7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Las 15 historias del Product Backlog cuentan con 4 criterios Gherkin formalizados.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ARQUITECTURA DE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Estructura del Backlog: Mapa de Épicas de ADUANATRACK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291840"/>
                <a:gridCol w="1645920"/>
                <a:gridCol w="3504895"/>
                <a:gridCol w="128016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ID Épica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Nombre de la Épica de Negocio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Historias de Usuario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Capacidades Técnicas y Funcionales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Fase / Sprint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EP-00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Infraestructura Base y 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Docker, PostgreSQL DDL, CI GitHub Actions, SAST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Sprint 1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EP-01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Autenticación y Control de Acceso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HU-01 (3 SP)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Login seguro, JWT, control de intentos, bitácora de acceso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Sprint 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EP-02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Directorio de Clientes Importadores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HU-04 (5 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Padrón RUC 11 dígitos, carta poder PDF, auditoría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Sprint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EP-03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Apertura y Control del Despacho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HU-03 (5 SP)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Correlativo atómico DESP, régimen 10, aduana Callao 118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Sprint 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EP-04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Transporte Marítimo y Contenedores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HU-05 (5 SP)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Conocimiento BL, validación ISO 6346, alertas almacenaje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Sprint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369A1"/>
                          </a:solidFill>
                          <a:latin typeface="Segoe UI"/>
                        </a:defRPr>
                      </a:pPr>
                      <a:r>
                        <a:t>EP-05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Monitoreo Operativo y Tablero de Control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HU-02 (5 SP)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Dashboard KPIs, grilla ordenada por ETA, exportar Excel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Sprint 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EP-06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Gestión Documental y Expediente Digital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HU-06 (8 SP)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Almacenamiento seguro PDF, validación comercial, visor digital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Sprint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EP-07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Clasificación Arancelaria y Liquidación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HU-07, 08 (16 SP)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Subpartidas arancelarias, base imponible CIF, Ad-Valorem/IGV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Sprint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EP-08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Destinación Aduanera y Canal SUNAT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HU-09, 10 (10 SP)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Numeración DAM con Clave SOL, trazabilidad Verde/Naranja/Rojo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Sprint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EP-09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Diligencias Portuarias y Levante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HU-11..13 (15 SP)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Citas en depósito, inspección física/documentaria y levante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Sprint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EP-10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Notificaciones y Analítica Gerencial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HU-14, 15 (13 SP)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Alertas de sobrestadía y reportes gerenciales en tiempo real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Sprint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COMPROMISO DEL SPRINT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Objetivo del Sprint (Sprint Goal) — Tema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DECLARACIÓN OFICIAL DEL SPRINT GOAL: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«Habilitar el flujo base de apertura y seguimiento inicial de despachos de importación marítima: acceso seguro al sistema, registro de clientes/importadores, apertura de un nuevo despacho y registro de la información de embarque (BL), con visibilidad centralizada del estado de los despachos en el Dashboard».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1880"/>
            <a:ext cx="342900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342900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Agente de Aduana (Operaciones)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251960"/>
            <a:ext cx="30998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Autenticación segura basada en roles, apertura formal con código atómico correlativo (DESP-AAAA-####) y registro ágil del BL marítimo con cálculo automático de almacenaje.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3611880"/>
            <a:ext cx="342900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9976" y="3611880"/>
            <a:ext cx="342900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Cliente Importador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251960"/>
            <a:ext cx="30998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Registro estructurado de datos de la empresa (RUC 11 dígitos), alerta automática a 15 días del vencimiento de carta poder y trazabilidad en tiempo real de su carga.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3611880"/>
            <a:ext cx="342900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2" y="3611880"/>
            <a:ext cx="342900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Jefatura de Operaciones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4251960"/>
            <a:ext cx="30998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Panel de control general (Dashboard) con métricas de despachos en curso, filtrado multicriterio por aduana/cliente y exportación de expediente a formato Excel.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GESTIÓN DE CAPACIDAD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Capacidad del Scrum Team y Pronóstico de Velocidad — Tema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2295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Desarrolladores Activos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Kiara (Frontend) / Patrick (Backend) / Fabio (DevOps)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371600"/>
            <a:ext cx="25146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508760"/>
            <a:ext cx="2295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369A1"/>
                </a:solidFill>
                <a:latin typeface="Segoe UI"/>
              </a:defRPr>
            </a:pPr>
            <a:r>
              <a:t>3 Semanas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Duración del Sprint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Semanas S7 a S9 (15 días hábiles)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71600"/>
            <a:ext cx="25146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2295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40AF"/>
                </a:solidFill>
                <a:latin typeface="Segoe UI"/>
              </a:defRPr>
            </a:pPr>
            <a:r>
              <a:t>101.4 h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Capacidad Neta Disponible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126h brutas - 12h ceremonias - 12.6h buffer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371600"/>
            <a:ext cx="25146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508760"/>
            <a:ext cx="2295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Segoe UI"/>
              </a:defRPr>
            </a:pPr>
            <a:r>
              <a:t>23 SP</a:t>
            </a:r>
          </a:p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Puntos Comprometidos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Consenso Planning Poker (5 Historias)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10728655" cy="2606040"/>
          </a:xfrm>
          <a:prstGeom prst="roundRect">
            <a:avLst/>
          </a:prstGeom>
          <a:solidFill>
            <a:srgbClr val="EFF6FF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FÓRMULA MATEMÁTICA DE CAPACIDAD Y BALANCE DE CARGA: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Capacidad Bruta: 3 desarrolladores × 3 semanas × 14 h/semana dedicadas al proyecto = 126.0 horas-hombre.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Deducción por Eventos Scrum: Sprint Planning (4h), Daily Scrums (5h), Sprint Review (2h) y Retrospective (2h) = 12.0 horas.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Margen de Contingencia / Curva de Aprendizaje (Buffer 10%): 12.6 horas reservadas para imprevistos técnicos.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Capacidad Neta Disponible: 126.0 h - 12.0 h - 12.6 h = 101.4 horas efectivas dedicadas al código e integración.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Compromiso Técnico: 109.0 horas estimadas en 31 tareas SMART (Factor de Ocupación: 107.5%, velocidad estimada ~7.7 SP/semana).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CONSENSO DE ESFUERZO Y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Estimación con Planning Poker y Priorización MoSCoW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Estimación con baraja Fibonacci (1, 2, 3, 5, 8) · Discusión técnica de extremos y alineamiento con el Product Owner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002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4144975"/>
                <a:gridCol w="1371600"/>
                <a:gridCol w="1371600"/>
                <a:gridCol w="14630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ID HU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Épica Asociada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Historia de Usuario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Ronda 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Consenso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Prioridad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EP-01: 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Iniciar sesión en el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 / 3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369A1"/>
                          </a:solidFill>
                          <a:latin typeface="Segoe UI"/>
                        </a:defRPr>
                      </a:pPr>
                      <a:r>
                        <a:t>3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EP-02: Clientes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Registrar datos del cliente importador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 / 5 /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369A1"/>
                          </a:solidFill>
                          <a:latin typeface="Segoe UI"/>
                        </a:defRPr>
                      </a:pPr>
                      <a:r>
                        <a:t>5 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EP-03: Despacho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Registrar nuevo despacho de importación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 / 5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369A1"/>
                          </a:solidFill>
                          <a:latin typeface="Segoe UI"/>
                        </a:defRPr>
                      </a:pPr>
                      <a:r>
                        <a:t>5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EP-05: Monitoreo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Visualizar panel de seguimiento (Dashboard)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 / 5 /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369A1"/>
                          </a:solidFill>
                          <a:latin typeface="Segoe UI"/>
                        </a:defRPr>
                      </a:pPr>
                      <a:r>
                        <a:t>5 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369A1"/>
                          </a:solidFill>
                          <a:latin typeface="Segoe UI"/>
                        </a:defRPr>
                      </a:pPr>
                      <a:r>
                        <a:t>Should Have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HU-05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EP-04: Embarque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Registrar información del embarque marítimo (BL)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 / 8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369A1"/>
                          </a:solidFill>
                          <a:latin typeface="Segoe UI"/>
                        </a:defRPr>
                      </a:pPr>
                      <a:r>
                        <a:t>5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Must Have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TOTAL COMPROMETIDO SPRINT 1: 23 STORY POINTS (5 HISTORIAS DE USUARIO CON CRITERIOS INVEST)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RUTA CRÍTICA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Sprint Backlog — Historias Comprometidas y Dependencias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2918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HU-01 · 3 SP  |  EP-01: Autenticación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Iniciar sesión en el sistema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Acceso seguro, hash bcrypt, token JWT, bloqueo al 3er fallo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29184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HU-02 · 5 SP  |  EP-05: Monitoreo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Visualizar panel (Dashboard)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KPIs en tiempo real, grilla por ETA, exportación a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329184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32918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HU-04 · 5 SP  |  EP-02: Importadores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4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Registrar cliente importador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Validación RUC módulo 11, carta poder PDF, auditoría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91840"/>
            <a:ext cx="329184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3291840"/>
            <a:ext cx="32918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HU-03 · 5 SP  |  EP-03: Despacho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4904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Registrar nuevo despacho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Correlativo atómico DESP, régimen 10, aduana Callao 118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291840"/>
            <a:ext cx="329184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3291840"/>
            <a:ext cx="32918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HU-05 · 5 SP  |  EP-04: Embarque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749040"/>
            <a:ext cx="3017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Registrar embarque (BL)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Validación ISO 6346 contenedores, cálculo de almacenaje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369A1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REGLAS DE GOBERNANZA Y SECUENCIA DE EJECUCIÓN: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1. HU-01 (Seguridad) y HU-04 (Importadores) inician en paralelo el Día 1. | 2. HU-03 (Despacho) exige importador creado y carta poder vigente.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3. HU-05 (Embarque BL) vincula la carga al expediente aperturado en HU-03. | 4. HU-02 (Dashboard) filtra y muestra despachos usando la sesión de HU-01.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TEMA 3: SPRINT BACKLOG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Desglose Técnico de Ingeniería (31 Tareas SMART · 109 Horas)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14600" cy="6858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Base de Datos &amp; Backend</a:t>
            </a:r>
          </a:p>
          <a:p>
            <a:pPr algn="ctr">
              <a:defRPr sz="850">
                <a:solidFill>
                  <a:srgbClr val="D97706"/>
                </a:solidFill>
                <a:latin typeface="Segoe UI"/>
              </a:defRPr>
            </a:pPr>
            <a:r>
              <a:t>11 Tareas · 46h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229514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POST /api/v1/auth/login con bcrypt y JWT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Tabla audit_auth_logs y control de bloqueos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Entidad importadores con validación módulo 11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Servicio multipart carta poder PDF y caducidad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Trigger/servicio para historial audit_importadores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Generador atómico correlativo DESP-YYYY-XXXX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Endpoints para regímenes SUNAT y aduana 118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Middleware validación carta poder vigente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Endpoint GET /api/v1/dashboard/kpis optimizado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Filtros dinámicos y exportador XLSX del listado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Algoritmo validación contenedores ISO 6346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371600"/>
            <a:ext cx="25146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5576" y="1371600"/>
            <a:ext cx="2514600" cy="6858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Frontend UI / UX</a:t>
            </a:r>
          </a:p>
          <a:p>
            <a:pPr algn="ctr">
              <a:defRPr sz="850">
                <a:solidFill>
                  <a:srgbClr val="D97706"/>
                </a:solidFill>
                <a:latin typeface="Segoe UI"/>
              </a:defRPr>
            </a:pPr>
            <a:r>
              <a:t>8 Tareas · 36h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148840"/>
            <a:ext cx="229514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Vista reactiva login con validación regex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Checkbox 'Recordarme' con sesión 8h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Formulario cliente con validación asíncrona RUC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Stepper guiado 'Datos generales de despacho'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Persistencia en borrador o estado apertura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Badge dinámico de estado en cabecera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Dashboard con métricas en vivo y tabla ETA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Tabla reactiva de contenedores FCL/LCL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25146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2514600" cy="685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Calidad &amp; Pruebas (QA)</a:t>
            </a:r>
          </a:p>
          <a:p>
            <a:pPr algn="ctr">
              <a:defRPr sz="850">
                <a:solidFill>
                  <a:srgbClr val="D97706"/>
                </a:solidFill>
                <a:latin typeface="Segoe UI"/>
              </a:defRPr>
            </a:pPr>
            <a:r>
              <a:t>6 Tareas · 10h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229514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Test suite 4 criterios BDD para HU-01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Pruebas funcionales y de borde para HU-04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Validación concurrencia correlativo en HU-03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Test volumetría (&lt;500ms) en HU-02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Validación regla zarpe &lt; ETA en HU-05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Verificación de criterios INVEST y Gherkin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371600"/>
            <a:ext cx="25146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3688" y="1371600"/>
            <a:ext cx="2514600" cy="685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DevOps &amp; Seguridad</a:t>
            </a:r>
          </a:p>
          <a:p>
            <a:pPr algn="ctr">
              <a:defRPr sz="850">
                <a:solidFill>
                  <a:srgbClr val="D97706"/>
                </a:solidFill>
                <a:latin typeface="Segoe UI"/>
              </a:defRPr>
            </a:pPr>
            <a:r>
              <a:t>6 Tareas · 17h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148840"/>
            <a:ext cx="229514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GitFlow (main, develop, feature/HU-XX)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Tablero Jira/Trello con flujo de 7 estados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docker-compose multi-servicio (Node, Postgres)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DDL PostgreSQL con índices y constraints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Pipeline CI en GitHub Actions (lint + test)</a:t>
            </a:r>
          </a:p>
          <a:p>
            <a:pPr>
              <a:spcAft>
                <a:spcPts val="250"/>
              </a:spcAft>
              <a:defRPr sz="819">
                <a:solidFill>
                  <a:srgbClr val="0F172A"/>
                </a:solidFill>
                <a:latin typeface="Segoe UI"/>
              </a:defRPr>
            </a:pPr>
            <a:r>
              <a:t>• Escaneo SAST SonarQube/Snyk + reporte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GOBERNANZA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Herramientas CASE y Criterios de Calidad (DoR / DoD)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937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Tablero Kanban (Jira / Trello)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Flujo de 7 estados (To Do, In Progress, Review, QA, Scan, Done). Límites WIP (máx 2 por dev).</a:t>
            </a:r>
          </a:p>
          <a:p>
            <a:pPr>
              <a:defRPr sz="850" b="1">
                <a:solidFill>
                  <a:srgbClr val="0369A1"/>
                </a:solidFill>
                <a:latin typeface="Segoe UI"/>
              </a:defRPr>
            </a:pPr>
            <a:r>
              <a:t>Evidencia: Invitado: jhuapallag@usmp.pe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2120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4937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Control de Versiones (GitHub)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Modelo GitFlow: main (release), develop (integración) y feature/HU-XX. PRs con revisión obligatoria.</a:t>
            </a:r>
          </a:p>
          <a:p>
            <a:pPr>
              <a:defRPr sz="850" b="1">
                <a:solidFill>
                  <a:srgbClr val="0369A1"/>
                </a:solidFill>
                <a:latin typeface="Segoe UI"/>
              </a:defRPr>
            </a:pPr>
            <a:r>
              <a:t>Evidencia: Invitado: jhuapalla@usmp.pe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4937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Escaneo de Vulnerabilidades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Pipeline CI con SonarQube / Snyk para análisis SAST y dependencias. Quality Gate: 0 críticos.</a:t>
            </a:r>
          </a:p>
          <a:p>
            <a:pPr>
              <a:defRPr sz="850" b="1">
                <a:solidFill>
                  <a:srgbClr val="0369A1"/>
                </a:solidFill>
                <a:latin typeface="Segoe UI"/>
              </a:defRPr>
            </a:pPr>
            <a:r>
              <a:t>Evidencia: Reporte formal en Semana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5212080" cy="107899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937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Ceremonias Daily Scrum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Reuniones diarias (15 min) a las 20:00 h para sincronización ágil y detección de bloqueos.</a:t>
            </a:r>
          </a:p>
          <a:p>
            <a:pPr>
              <a:defRPr sz="850" b="1">
                <a:solidFill>
                  <a:srgbClr val="0369A1"/>
                </a:solidFill>
                <a:latin typeface="Segoe UI"/>
              </a:defRPr>
            </a:pPr>
            <a:r>
              <a:t>Evidencia: Video semanal obligatorio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DEFINICIÓN DE PREPARADO (Definition of Ready - DoR):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Estructura estándar de Tarjeta ('Como [rol], Quiero [acción], Para [beneficio]')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4 Criterios de Aceptación formulados en Gherkin (Dado-Cuando-Entonces)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Dependencias técnicas identificadas y prototipo UI/UX validado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Estimación acordada en Planning Poker cumpliendo criterios INVEST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59669"/>
                </a:solidFill>
                <a:latin typeface="Segoe UI"/>
              </a:defRPr>
            </a:pPr>
            <a:r>
              <a:t>DEFINICIÓN DE TERMINADO (Definition of Done - DoD):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Código probado con cobertura unitaria mínima del 75%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Peer review aprobado en Pull Request antes del merge a 'develop'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Verificación de los 4 criterios de aceptación por el Product Owner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✓ Escaneo SAST SonarQube/Snyk sin vulnerabilidades críticas o bloqueantes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369A1"/>
                </a:solidFill>
                <a:latin typeface="Segoe UI"/>
              </a:defRPr>
            </a:pPr>
            <a:r>
              <a:t>CRONOGRAMA DE ENTREGAS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Calendario y Ruta Crítica del Sprint 1 (Semanas 7 a 9)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AduanaTrack — Sistema de Seguimiento Aduanero de Importaciones Marítimas · Grupo 2 · USMP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55664"/>
            <a:ext cx="944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369A1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29000" cy="6858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Semana 7 (Días 1 a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30998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  <a:latin typeface="Segoe UI"/>
              </a:defRPr>
            </a:pPr>
            <a:r>
              <a:t>Hitos de Inicio: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Sprint Planning 1, Setup repos GitFlow, Kanban Jira y contenedor PostgreSQL.</a:t>
            </a:r>
          </a:p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  <a:latin typeface="Segoe UI"/>
              </a:defRPr>
            </a:pPr>
            <a:r>
              <a:t>HU-01 (3 SP):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Iniciar sesión en el sistema (Auth JWT, auditoría y login reactivo).</a:t>
            </a:r>
          </a:p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  <a:latin typeface="Segoe UI"/>
              </a:defRPr>
            </a:pPr>
            <a:r>
              <a:t>HU-04 (5 SP):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Registrar datos del cliente importador (RUC 11 dígitos y carta poder PDF).</a:t>
            </a:r>
          </a:p>
          <a:p>
            <a:pPr>
              <a:spcAft>
                <a:spcPts val="200"/>
              </a:spcAft>
              <a:defRPr sz="950" b="1">
                <a:solidFill>
                  <a:srgbClr val="1E3A8A"/>
                </a:solidFill>
                <a:latin typeface="Segoe UI"/>
              </a:defRPr>
            </a:pPr>
            <a:r>
              <a:t>Entregable Semanal: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Grabación Video Daily #1 (Arranque y asignación).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371600"/>
            <a:ext cx="3429000" cy="6858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Semana 8 (Días 6 a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94560"/>
            <a:ext cx="30998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HU-03 (5 SP):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Registrar nuevo despacho de importación (Correlativo DESP, régimen 10 aduana 118).</a:t>
            </a:r>
          </a:p>
          <a:p>
            <a:pPr>
              <a:spcAft>
                <a:spcPts val="2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HU-02 (Inicio):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Visualizar panel de seguimiento de despachos (Queries SQL indexadas y endpoints KPI).</a:t>
            </a:r>
          </a:p>
          <a:p>
            <a:pPr>
              <a:spcAft>
                <a:spcPts val="2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Validación Continua: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Pruebas unitarias de integración de despacho vinculado al importador.</a:t>
            </a:r>
          </a:p>
          <a:p>
            <a:pPr>
              <a:spcAft>
                <a:spcPts val="200"/>
              </a:spcAft>
              <a:defRPr sz="950" b="1">
                <a:solidFill>
                  <a:srgbClr val="0369A1"/>
                </a:solidFill>
                <a:latin typeface="Segoe UI"/>
              </a:defRPr>
            </a:pPr>
            <a:r>
              <a:t>Entregable Semanal: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Grabación Video Daily #2 (Avance del núcleo de despachos).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371600"/>
            <a:ext cx="342900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28432" y="1371600"/>
            <a:ext cx="3429000" cy="685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Semana 9 (Días 11 a 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194560"/>
            <a:ext cx="30998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HU-02 (Cierre 5 SP):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Dashboard completo con tarjetas KPI y tabla ordenada por ETA.</a:t>
            </a:r>
          </a:p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HU-05 (5 SP):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Registrar información del embarque marítimo (BL) y validación ISO 6346.</a:t>
            </a:r>
          </a:p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Cierre de Sprint: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Escaneo SAST SonarQube/Snyk con reporte de hallazgos y correcciones.</a:t>
            </a:r>
          </a:p>
          <a:p>
            <a:pPr>
              <a:spcAft>
                <a:spcPts val="200"/>
              </a:spcAft>
              <a:defRPr sz="950" b="1">
                <a:solidFill>
                  <a:srgbClr val="1E40AF"/>
                </a:solidFill>
                <a:latin typeface="Segoe UI"/>
              </a:defRPr>
            </a:pPr>
            <a:r>
              <a:t>Ceremonias de Cierre: 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Sprint Review, Retrospective, Demostración y Video Daily #3.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RESUMEN DE COMPROMISO — SPRINT 1</a:t>
            </a:r>
          </a:p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«Este Sprint Backlog constituye la línea base operativa para la ejecución técnica, el control de flujo y la inspección continua en los Daily Scrums»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2377440" cy="2286000"/>
          </a:xfrm>
          <a:prstGeom prst="roundRect">
            <a:avLst/>
          </a:prstGeom>
          <a:solidFill>
            <a:srgbClr val="1E3A8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97706"/>
                </a:solidFill>
                <a:latin typeface="Segoe UI"/>
              </a:defRPr>
            </a:pPr>
            <a:r>
              <a:t>23</a:t>
            </a:r>
          </a:p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STORY POINTS</a:t>
            </a:r>
          </a:p>
          <a:p>
            <a:pPr algn="ctr">
              <a:defRPr sz="850">
                <a:solidFill>
                  <a:srgbClr val="BAE6FD"/>
                </a:solidFill>
                <a:latin typeface="Segoe UI"/>
              </a:defRPr>
            </a:pPr>
            <a:r>
              <a:t>Consenso Planning Poker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651760"/>
            <a:ext cx="2377440" cy="2286000"/>
          </a:xfrm>
          <a:prstGeom prst="roundRect">
            <a:avLst/>
          </a:prstGeom>
          <a:solidFill>
            <a:srgbClr val="1E3A8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83464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97706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HISTORIAS COMPROMETIDAS</a:t>
            </a:r>
          </a:p>
          <a:p>
            <a:pPr algn="ctr">
              <a:defRPr sz="850">
                <a:solidFill>
                  <a:srgbClr val="BAE6FD"/>
                </a:solidFill>
                <a:latin typeface="Segoe UI"/>
              </a:defRPr>
            </a:pPr>
            <a:r>
              <a:t>Validación con Modelo INVEST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2377440" cy="2286000"/>
          </a:xfrm>
          <a:prstGeom prst="roundRect">
            <a:avLst/>
          </a:prstGeom>
          <a:solidFill>
            <a:srgbClr val="1E3A8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97706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TAREAS TÉCNICAS SMART</a:t>
            </a:r>
          </a:p>
          <a:p>
            <a:pPr algn="ctr">
              <a:defRPr sz="850">
                <a:solidFill>
                  <a:srgbClr val="BAE6FD"/>
                </a:solidFill>
                <a:latin typeface="Segoe UI"/>
              </a:defRPr>
            </a:pPr>
            <a:r>
              <a:t>109 Horas de esfuerzo estimadas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651760"/>
            <a:ext cx="2377440" cy="2286000"/>
          </a:xfrm>
          <a:prstGeom prst="roundRect">
            <a:avLst/>
          </a:prstGeom>
          <a:solidFill>
            <a:srgbClr val="1E3A8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83464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D97706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SEMANAS DE SPRINT</a:t>
            </a:r>
          </a:p>
          <a:p>
            <a:pPr algn="ctr">
              <a:defRPr sz="850">
                <a:solidFill>
                  <a:srgbClr val="BAE6FD"/>
                </a:solidFill>
                <a:latin typeface="Segoe UI"/>
              </a:defRPr>
            </a:pPr>
            <a:r>
              <a:t>Semanas 7 a 9 (15 días hábiles)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¡Muchas Gracias! — Scrum Team Grupo 2 (ADUANATRACK)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